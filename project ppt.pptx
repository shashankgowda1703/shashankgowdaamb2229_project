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Montserrat SemiBold"/>
      <p:regular r:id="rId24"/>
      <p:bold r:id="rId25"/>
      <p:italic r:id="rId26"/>
      <p:boldItalic r:id="rId27"/>
    </p:embeddedFont>
    <p:embeddedFont>
      <p:font typeface="Roboto Black"/>
      <p:bold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  <p:embeddedFont>
      <p:font typeface="Roboto"/>
      <p:bold r:id="rId34"/>
      <p:boldItalic r:id="rId35"/>
    </p:embeddedFont>
    <p:embeddedFont>
      <p:font typeface="Montserrat"/>
      <p:bold r:id="rId36"/>
      <p:boldItalic r:id="rId37"/>
    </p:embeddedFont>
    <p:embeddedFont>
      <p:font typeface="Montserrat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RobotoBlack-bold.fntdata"/><Relationship Id="rId27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Blac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6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b9418dc3_0_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eb9418dc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eb9418dc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b9418dc3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b9418dc3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eb9418dc3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eb9418dc3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b9418dc3_0_9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b9418dc3_0_12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eb9418dc3_0_14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eb9418dc3_0_15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b9418dc3_0_18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eb9418dc3_0_1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eb9418dc3_0_1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eb9418dc3_0_26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eb9418dc3_0_37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eb9418dc3_0_37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eb9418dc3_0_27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eb9418dc3_0_35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eb9418dc3_0_29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eb9418dc3_0_32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eb9418dc3_0_33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b9418dc3_6_0)">
  <p:cSld name="Generated (g3deb9418dc3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9418dc3_34_0)">
  <p:cSld name="Title and body (g3deb9418dc3_34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9418dc3_34_0) (g3deb9418dc3_47_0)">
  <p:cSld name="Title and body (g3deb9418dc3_34_0) (g3deb9418dc3_47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9418dc3_34_0) (g3deb9418dc3_47_0) (g3deb9418dc3_63_0)">
  <p:cSld name="Title and body (g3deb9418dc3_34_0) (g3deb9418dc3_47_0) (g3deb9418dc3_63_0)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jp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/>
          <p:nvPr/>
        </p:nvSpPr>
        <p:spPr>
          <a:xfrm>
            <a:off x="2667000" y="2476500"/>
            <a:ext cx="3810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 txBox="1"/>
          <p:nvPr/>
        </p:nvSpPr>
        <p:spPr>
          <a:xfrm>
            <a:off x="571500" y="381000"/>
            <a:ext cx="8001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15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Smart Agriculture Advisory System Using Machine Learning</a:t>
            </a:r>
            <a:endParaRPr b="0" sz="3515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571500" y="19050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2E7D3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Agro-Meteorology Based Crop Planning System</a:t>
            </a:r>
            <a:endParaRPr b="0" sz="2000">
              <a:solidFill>
                <a:srgbClr val="2E7D3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" name="Google Shape;71;p17"/>
          <p:cNvSpPr txBox="1"/>
          <p:nvPr/>
        </p:nvSpPr>
        <p:spPr>
          <a:xfrm>
            <a:off x="571500" y="2762250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55A64"/>
                </a:solidFill>
                <a:latin typeface="Roboto Medium"/>
                <a:ea typeface="Roboto Medium"/>
                <a:cs typeface="Roboto Medium"/>
                <a:sym typeface="Roboto Medium"/>
              </a:rPr>
              <a:t>Submitted to: Course Teacher, EAI-421: Applications of AI &amp; ML in Agriculture</a:t>
            </a:r>
            <a:endParaRPr b="0" sz="1400">
              <a:solidFill>
                <a:srgbClr val="455A6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72" name="Google Shape;72;p17"/>
          <p:cNvGrpSpPr/>
          <p:nvPr/>
        </p:nvGrpSpPr>
        <p:grpSpPr>
          <a:xfrm>
            <a:off x="1714500" y="3524250"/>
            <a:ext cx="5715000" cy="762000"/>
            <a:chOff x="0" y="0"/>
            <a:chExt cx="5715000" cy="762000"/>
          </a:xfrm>
        </p:grpSpPr>
        <p:pic>
          <p:nvPicPr>
            <p:cNvPr id="73" name="Google Shape;7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715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7"/>
            <p:cNvSpPr txBox="1"/>
            <p:nvPr/>
          </p:nvSpPr>
          <p:spPr>
            <a:xfrm>
              <a:off x="95250" y="0"/>
              <a:ext cx="5524500" cy="49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Presented by:</a:t>
              </a:r>
              <a:r>
                <a:rPr b="0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 Abhishek Gowda V (AMB2009) | Shashank Gowda (AMB2229) | Vikas Gowda T N (AMB2297)</a:t>
              </a:r>
              <a:endParaRPr b="1" i="0" sz="935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Affiliation:</a:t>
              </a:r>
              <a:r>
                <a:rPr b="0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 IV BSc. (Hons') Agriculture, Module - 3, College of Agriculture, GKVK, Bengaluru - 560065</a:t>
              </a:r>
              <a:endParaRPr b="1" i="0" sz="935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5" name="Google Shape;75;p17"/>
          <p:cNvSpPr txBox="1"/>
          <p:nvPr/>
        </p:nvSpPr>
        <p:spPr>
          <a:xfrm>
            <a:off x="571500" y="447675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Academic Year: 2025–26</a:t>
            </a:r>
            <a:endParaRPr b="1" i="0" sz="1100">
              <a:solidFill>
                <a:srgbClr val="3747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52500" y="-9525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0" y="3714750"/>
            <a:ext cx="14289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Index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571500" y="1047750"/>
            <a:ext cx="8001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Motivation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Objectives of the Project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Dataset Overview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Methodology / Approach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Tools and Technologies Used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Discussion / Analysis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Conclusion and Future Work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References / Acknowledgements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571500" y="1143000"/>
            <a:ext cx="8001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Agriculture contributes ~18% to India's GDP and supports over 58% of the rural population.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Smallholder farmers face chronic challenges in decision-making, exacerbated by erratic monsoons, rising temperatures, and climate variability.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The Smart Agriculture Advisory System (SAAS) addresses this by using machine learning to predict soil moisture strictly from observable weather inputs.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By combining predicted soil moisture with temperature data, the system recommends suitable crops tailored to Karnataka’s agro-climatic conditions.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The system accommodates both technical and non-technical users via dual input modes (descriptive vs. numeric).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Problem Statement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571500" y="1143000"/>
            <a:ext cx="8001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Absence of Real-Time Support: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Crop selection relies on traditional calendars rather than real-time soil/weather data, leading to mismatched crops and avoidable yield losses.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Poor Soil Moisture Estimation: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Soil moisture is critical, yet sensors are inaccessible at the farm level, and manual estimation is highly inaccurate.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Climate Variability: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Increased droughts and unpredictable rainfall render traditional monsoon-onset calendars disproportionately risky.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Literacy Barriers: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Existing tech tools lack local-language or simple descriptive interfaces, creating a barrier for primary stakeholders.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Motivation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571500" y="1238250"/>
            <a:ext cx="3810000" cy="1428900"/>
            <a:chOff x="0" y="0"/>
            <a:chExt cx="3810000" cy="1428900"/>
          </a:xfrm>
        </p:grpSpPr>
        <p:sp>
          <p:nvSpPr>
            <p:cNvPr id="109" name="Google Shape;109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ose-up of vibrant green crops in a field, symbolizing food security and agricultural growth." id="110" name="Google Shape;110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11" name="Google Shape;111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National Food Security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Doubling farmers' income requires an urgent upgrade in technology-enabled, farm-level advisory infrastructure.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" name="Google Shape;112;p21"/>
          <p:cNvGrpSpPr/>
          <p:nvPr/>
        </p:nvGrpSpPr>
        <p:grpSpPr>
          <a:xfrm>
            <a:off x="4762500" y="1238250"/>
            <a:ext cx="3810000" cy="1428900"/>
            <a:chOff x="0" y="0"/>
            <a:chExt cx="3810000" cy="1428900"/>
          </a:xfrm>
        </p:grpSpPr>
        <p:sp>
          <p:nvSpPr>
            <p:cNvPr id="113" name="Google Shape;113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Dramatic sky with sun rays and rain clouds over a landscape, representing climate-smart agriculture." id="114" name="Google Shape;11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15" name="Google Shape;115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Climate-Smart Imperative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Changing global precipitation patterns demand a transition from static calendars to dynamic, data-driven approaches.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21"/>
          <p:cNvGrpSpPr/>
          <p:nvPr/>
        </p:nvGrpSpPr>
        <p:grpSpPr>
          <a:xfrm>
            <a:off x="571500" y="2857500"/>
            <a:ext cx="3810000" cy="1428900"/>
            <a:chOff x="0" y="0"/>
            <a:chExt cx="3810000" cy="1428900"/>
          </a:xfrm>
        </p:grpSpPr>
        <p:sp>
          <p:nvSpPr>
            <p:cNvPr id="117" name="Google Shape;117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bstract digital network nodes and a simple computer chip, symbolizing AI democratization." id="118" name="Google Shape;118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19" name="Google Shape;119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AI Democratisation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Affordable computing and open-source libraries allow the deployment of low-cost advisory systems on basic hardware.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21"/>
          <p:cNvGrpSpPr/>
          <p:nvPr/>
        </p:nvGrpSpPr>
        <p:grpSpPr>
          <a:xfrm>
            <a:off x="4762500" y="2857500"/>
            <a:ext cx="3810000" cy="1428900"/>
            <a:chOff x="0" y="0"/>
            <a:chExt cx="3810000" cy="1428900"/>
          </a:xfrm>
        </p:grpSpPr>
        <p:sp>
          <p:nvSpPr>
            <p:cNvPr id="121" name="Google Shape;121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Diverse local crops like Ragi, Maize, and Paddy in a colorful harvest arrangement." id="122" name="Google Shape;122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23" name="Google Shape;123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Local Relevance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Acts as an excellent testbed for Karnataka's diverse agro-climatic zones and major crops like Ragi, Maize, and Paddy.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Objectives of the Project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2"/>
          <p:cNvGrpSpPr/>
          <p:nvPr/>
        </p:nvGrpSpPr>
        <p:grpSpPr>
          <a:xfrm>
            <a:off x="571500" y="1238250"/>
            <a:ext cx="3905400" cy="1428900"/>
            <a:chOff x="0" y="0"/>
            <a:chExt cx="3905400" cy="1428900"/>
          </a:xfrm>
        </p:grpSpPr>
        <p:sp>
          <p:nvSpPr>
            <p:cNvPr id="131" name="Google Shape;131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Main Objective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Develop a machine learning–based advisory system that predicts soil moisture from weather parameters and recommends crops for improved decision-making.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" name="Google Shape;133;p22"/>
          <p:cNvGrpSpPr/>
          <p:nvPr/>
        </p:nvGrpSpPr>
        <p:grpSpPr>
          <a:xfrm>
            <a:off x="4667250" y="1238250"/>
            <a:ext cx="3905400" cy="1428900"/>
            <a:chOff x="0" y="0"/>
            <a:chExt cx="3905400" cy="1428900"/>
          </a:xfrm>
        </p:grpSpPr>
        <p:sp>
          <p:nvSpPr>
            <p:cNvPr id="134" name="Google Shape;134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Model Optimization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Evaluate baseline algorithms (Decision Tree, Random Forest) against Multiple Linear Regression to achieve highest accuracy.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2"/>
          <p:cNvGrpSpPr/>
          <p:nvPr/>
        </p:nvGrpSpPr>
        <p:grpSpPr>
          <a:xfrm>
            <a:off x="571500" y="2857500"/>
            <a:ext cx="3905400" cy="1428900"/>
            <a:chOff x="0" y="0"/>
            <a:chExt cx="3905400" cy="1428900"/>
          </a:xfrm>
        </p:grpSpPr>
        <p:sp>
          <p:nvSpPr>
            <p:cNvPr id="137" name="Google Shape;137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Accessibility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Design dual-mode input interfaces: a farmer-friendly descriptive mode and a numeric precision mode for advanced users.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22"/>
          <p:cNvGrpSpPr/>
          <p:nvPr/>
        </p:nvGrpSpPr>
        <p:grpSpPr>
          <a:xfrm>
            <a:off x="4667250" y="2857500"/>
            <a:ext cx="3905400" cy="1428900"/>
            <a:chOff x="0" y="0"/>
            <a:chExt cx="3905400" cy="1428900"/>
          </a:xfrm>
        </p:grpSpPr>
        <p:sp>
          <p:nvSpPr>
            <p:cNvPr id="140" name="Google Shape;140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Actionable Output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Generate real-time field advisories (e.g., irrigation needs, drainage, disease risk alerts) alongside tailored crop recommendations.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23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148" name="Google Shape;148;p23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Dataset Overview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23"/>
          <p:cNvGrpSpPr/>
          <p:nvPr/>
        </p:nvGrpSpPr>
        <p:grpSpPr>
          <a:xfrm>
            <a:off x="571500" y="1238250"/>
            <a:ext cx="3905400" cy="952500"/>
            <a:chOff x="571500" y="1238250"/>
            <a:chExt cx="3905400" cy="952500"/>
          </a:xfrm>
        </p:grpSpPr>
        <p:sp>
          <p:nvSpPr>
            <p:cNvPr id="151" name="Google Shape;151;p23"/>
            <p:cNvSpPr/>
            <p:nvPr/>
          </p:nvSpPr>
          <p:spPr>
            <a:xfrm>
              <a:off x="571500" y="12382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3"/>
            <p:cNvSpPr txBox="1"/>
            <p:nvPr/>
          </p:nvSpPr>
          <p:spPr>
            <a:xfrm>
              <a:off x="762000" y="1381125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Source Data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Agronomic field observations representative of Karnataka's major Kharif and Rabi cropping zones.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" name="Google Shape;153;p23"/>
          <p:cNvGrpSpPr/>
          <p:nvPr/>
        </p:nvGrpSpPr>
        <p:grpSpPr>
          <a:xfrm>
            <a:off x="4667250" y="1238250"/>
            <a:ext cx="3905400" cy="952500"/>
            <a:chOff x="4667250" y="1238250"/>
            <a:chExt cx="3905400" cy="952500"/>
          </a:xfrm>
        </p:grpSpPr>
        <p:sp>
          <p:nvSpPr>
            <p:cNvPr id="154" name="Google Shape;154;p23"/>
            <p:cNvSpPr/>
            <p:nvPr/>
          </p:nvSpPr>
          <p:spPr>
            <a:xfrm>
              <a:off x="4667250" y="12382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4857750" y="1381125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Target Variable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Soil Moisture (%)</a:t>
              </a: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— Volumetric water content in soil, predicted strictly from weather inputs.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23"/>
          <p:cNvGrpSpPr/>
          <p:nvPr/>
        </p:nvGrpSpPr>
        <p:grpSpPr>
          <a:xfrm>
            <a:off x="571500" y="2333625"/>
            <a:ext cx="3905400" cy="1381200"/>
            <a:chOff x="571500" y="2333625"/>
            <a:chExt cx="3905400" cy="1381200"/>
          </a:xfrm>
        </p:grpSpPr>
        <p:sp>
          <p:nvSpPr>
            <p:cNvPr id="157" name="Google Shape;157;p23"/>
            <p:cNvSpPr/>
            <p:nvPr/>
          </p:nvSpPr>
          <p:spPr>
            <a:xfrm>
              <a:off x="571500" y="2333625"/>
              <a:ext cx="3905400" cy="1381200"/>
            </a:xfrm>
            <a:prstGeom prst="roundRect">
              <a:avLst>
                <a:gd fmla="val 8275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 txBox="1"/>
            <p:nvPr/>
          </p:nvSpPr>
          <p:spPr>
            <a:xfrm>
              <a:off x="762000" y="2476500"/>
              <a:ext cx="3524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5 Input Features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● Rainfall (mm) &amp; Temp (°C)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● Humidity (%) &amp; Wind (km/h)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● Day Length (hours)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9" name="Google Shape;159;p23"/>
          <p:cNvGrpSpPr/>
          <p:nvPr/>
        </p:nvGrpSpPr>
        <p:grpSpPr>
          <a:xfrm>
            <a:off x="4667250" y="2333625"/>
            <a:ext cx="3905400" cy="619200"/>
            <a:chOff x="4667250" y="2333625"/>
            <a:chExt cx="3905400" cy="619200"/>
          </a:xfrm>
        </p:grpSpPr>
        <p:sp>
          <p:nvSpPr>
            <p:cNvPr id="160" name="Google Shape;160;p23"/>
            <p:cNvSpPr/>
            <p:nvPr/>
          </p:nvSpPr>
          <p:spPr>
            <a:xfrm>
              <a:off x="4667250" y="2333625"/>
              <a:ext cx="3905400" cy="619200"/>
            </a:xfrm>
            <a:prstGeom prst="roundRect">
              <a:avLst>
                <a:gd fmla="val 18461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 txBox="1"/>
            <p:nvPr/>
          </p:nvSpPr>
          <p:spPr>
            <a:xfrm>
              <a:off x="4857750" y="2428875"/>
              <a:ext cx="352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Pre-processing:</a:t>
              </a: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Cleaned column formatting; dropped rows with missing (NaN) values.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2" name="Google Shape;162;p23"/>
          <p:cNvGrpSpPr/>
          <p:nvPr/>
        </p:nvGrpSpPr>
        <p:grpSpPr>
          <a:xfrm>
            <a:off x="4667250" y="3095625"/>
            <a:ext cx="3905400" cy="619200"/>
            <a:chOff x="4667250" y="3095625"/>
            <a:chExt cx="3905400" cy="619200"/>
          </a:xfrm>
        </p:grpSpPr>
        <p:sp>
          <p:nvSpPr>
            <p:cNvPr id="163" name="Google Shape;163;p23"/>
            <p:cNvSpPr/>
            <p:nvPr/>
          </p:nvSpPr>
          <p:spPr>
            <a:xfrm>
              <a:off x="4667250" y="3095625"/>
              <a:ext cx="3905400" cy="619200"/>
            </a:xfrm>
            <a:prstGeom prst="roundRect">
              <a:avLst>
                <a:gd fmla="val 18461" name="adj"/>
              </a:avLst>
            </a:prstGeom>
            <a:solidFill>
              <a:srgbClr val="1B5E20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 txBox="1"/>
            <p:nvPr/>
          </p:nvSpPr>
          <p:spPr>
            <a:xfrm>
              <a:off x="4857750" y="3190875"/>
              <a:ext cx="352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Crop Database: Rice, Ragi, Maize, Red Gram, Groundnut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Methodology &amp; Workflow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4"/>
          <p:cNvGrpSpPr/>
          <p:nvPr/>
        </p:nvGrpSpPr>
        <p:grpSpPr>
          <a:xfrm>
            <a:off x="571500" y="1238250"/>
            <a:ext cx="2619300" cy="1095300"/>
            <a:chOff x="571500" y="1238250"/>
            <a:chExt cx="2619300" cy="1095300"/>
          </a:xfrm>
        </p:grpSpPr>
        <p:sp>
          <p:nvSpPr>
            <p:cNvPr id="173" name="Google Shape;173;p24"/>
            <p:cNvSpPr/>
            <p:nvPr/>
          </p:nvSpPr>
          <p:spPr>
            <a:xfrm>
              <a:off x="571500" y="12382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4"/>
            <p:cNvSpPr txBox="1"/>
            <p:nvPr/>
          </p:nvSpPr>
          <p:spPr>
            <a:xfrm>
              <a:off x="666750" y="13096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1 — Data Ingestion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Ingest CSV/Excel, normalise columns, and handle missing values.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4"/>
          <p:cNvGrpSpPr/>
          <p:nvPr/>
        </p:nvGrpSpPr>
        <p:grpSpPr>
          <a:xfrm>
            <a:off x="3262313" y="1238250"/>
            <a:ext cx="2619300" cy="1095300"/>
            <a:chOff x="3262313" y="1238250"/>
            <a:chExt cx="2619300" cy="1095300"/>
          </a:xfrm>
        </p:grpSpPr>
        <p:sp>
          <p:nvSpPr>
            <p:cNvPr id="176" name="Google Shape;176;p24"/>
            <p:cNvSpPr/>
            <p:nvPr/>
          </p:nvSpPr>
          <p:spPr>
            <a:xfrm>
              <a:off x="3262313" y="12382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4"/>
            <p:cNvSpPr txBox="1"/>
            <p:nvPr/>
          </p:nvSpPr>
          <p:spPr>
            <a:xfrm>
              <a:off x="3357563" y="13096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2 — Train-Test Split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Divide data into 80% training and 20% testing sets using Scikit-learn.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8" name="Google Shape;178;p24"/>
          <p:cNvGrpSpPr/>
          <p:nvPr/>
        </p:nvGrpSpPr>
        <p:grpSpPr>
          <a:xfrm>
            <a:off x="5953125" y="1238250"/>
            <a:ext cx="2619300" cy="1095300"/>
            <a:chOff x="5953125" y="1238250"/>
            <a:chExt cx="2619300" cy="1095300"/>
          </a:xfrm>
        </p:grpSpPr>
        <p:sp>
          <p:nvSpPr>
            <p:cNvPr id="179" name="Google Shape;179;p24"/>
            <p:cNvSpPr/>
            <p:nvPr/>
          </p:nvSpPr>
          <p:spPr>
            <a:xfrm>
              <a:off x="5953125" y="12382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4"/>
            <p:cNvSpPr txBox="1"/>
            <p:nvPr/>
          </p:nvSpPr>
          <p:spPr>
            <a:xfrm>
              <a:off x="6048375" y="13096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3 — Exploratory Analysis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Generate feature correlation heatmaps to understand meteorological relationships.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1" name="Google Shape;181;p24"/>
          <p:cNvGrpSpPr/>
          <p:nvPr/>
        </p:nvGrpSpPr>
        <p:grpSpPr>
          <a:xfrm>
            <a:off x="571500" y="2571750"/>
            <a:ext cx="2619300" cy="1095300"/>
            <a:chOff x="571500" y="2571750"/>
            <a:chExt cx="2619300" cy="1095300"/>
          </a:xfrm>
        </p:grpSpPr>
        <p:sp>
          <p:nvSpPr>
            <p:cNvPr id="182" name="Google Shape;182;p24"/>
            <p:cNvSpPr/>
            <p:nvPr/>
          </p:nvSpPr>
          <p:spPr>
            <a:xfrm>
              <a:off x="571500" y="25717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4"/>
            <p:cNvSpPr txBox="1"/>
            <p:nvPr/>
          </p:nvSpPr>
          <p:spPr>
            <a:xfrm>
              <a:off x="666750" y="26431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4 — Algorithm Comparison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Train baseline Decision Tree and Random Forest regressors.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" name="Google Shape;184;p24"/>
          <p:cNvGrpSpPr/>
          <p:nvPr/>
        </p:nvGrpSpPr>
        <p:grpSpPr>
          <a:xfrm>
            <a:off x="3262313" y="2571750"/>
            <a:ext cx="2619300" cy="1095300"/>
            <a:chOff x="3262313" y="2571750"/>
            <a:chExt cx="2619300" cy="1095300"/>
          </a:xfrm>
        </p:grpSpPr>
        <p:sp>
          <p:nvSpPr>
            <p:cNvPr id="185" name="Google Shape;185;p24"/>
            <p:cNvSpPr/>
            <p:nvPr/>
          </p:nvSpPr>
          <p:spPr>
            <a:xfrm>
              <a:off x="3262313" y="25717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4"/>
            <p:cNvSpPr txBox="1"/>
            <p:nvPr/>
          </p:nvSpPr>
          <p:spPr>
            <a:xfrm>
              <a:off x="3357563" y="26431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5 — Model Deployment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Implement Multiple Linear Regression model for real-time field predictions.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" name="Google Shape;187;p24"/>
          <p:cNvGrpSpPr/>
          <p:nvPr/>
        </p:nvGrpSpPr>
        <p:grpSpPr>
          <a:xfrm>
            <a:off x="5953125" y="2571750"/>
            <a:ext cx="2619300" cy="1095300"/>
            <a:chOff x="5953125" y="2571750"/>
            <a:chExt cx="2619300" cy="1095300"/>
          </a:xfrm>
        </p:grpSpPr>
        <p:sp>
          <p:nvSpPr>
            <p:cNvPr id="188" name="Google Shape;188;p24"/>
            <p:cNvSpPr/>
            <p:nvPr/>
          </p:nvSpPr>
          <p:spPr>
            <a:xfrm>
              <a:off x="5953125" y="25717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1B5E20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4"/>
            <p:cNvSpPr txBox="1"/>
            <p:nvPr/>
          </p:nvSpPr>
          <p:spPr>
            <a:xfrm>
              <a:off x="6048375" y="26431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6 — Recommendation</a:t>
              </a:r>
              <a:endParaRPr b="1" i="0" sz="14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F1F8E9"/>
                  </a:solidFill>
                  <a:latin typeface="Roboto"/>
                  <a:ea typeface="Roboto"/>
                  <a:cs typeface="Roboto"/>
                  <a:sym typeface="Roboto"/>
                </a:rPr>
                <a:t>Deterministic rule-based engine for crop selection and threshold-based alerts.</a:t>
              </a:r>
              <a:endParaRPr b="1" i="0" sz="11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Tools &amp; Technologies Used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5"/>
          <p:cNvGrpSpPr/>
          <p:nvPr/>
        </p:nvGrpSpPr>
        <p:grpSpPr>
          <a:xfrm>
            <a:off x="571500" y="1238250"/>
            <a:ext cx="3905400" cy="1047900"/>
            <a:chOff x="0" y="0"/>
            <a:chExt cx="3905400" cy="1047900"/>
          </a:xfrm>
        </p:grpSpPr>
        <p:sp>
          <p:nvSpPr>
            <p:cNvPr id="199" name="Google Shape;199;p25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10909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5"/>
            <p:cNvSpPr txBox="1"/>
            <p:nvPr/>
          </p:nvSpPr>
          <p:spPr>
            <a:xfrm>
              <a:off x="190500" y="190500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Programming Language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Python — used for building the lightweight, scalable advisory system.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1" name="Google Shape;201;p25"/>
          <p:cNvGrpSpPr/>
          <p:nvPr/>
        </p:nvGrpSpPr>
        <p:grpSpPr>
          <a:xfrm>
            <a:off x="4667250" y="1238250"/>
            <a:ext cx="3905400" cy="1047900"/>
            <a:chOff x="0" y="0"/>
            <a:chExt cx="3905400" cy="1047900"/>
          </a:xfrm>
        </p:grpSpPr>
        <p:sp>
          <p:nvSpPr>
            <p:cNvPr id="202" name="Google Shape;202;p25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10909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 txBox="1"/>
            <p:nvPr/>
          </p:nvSpPr>
          <p:spPr>
            <a:xfrm>
              <a:off x="190500" y="190500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Data Manipulation Libraries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Pandas and NumPy for tabular record handling, dataset formatting, and numerical operations.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4" name="Google Shape;204;p25"/>
          <p:cNvGrpSpPr/>
          <p:nvPr/>
        </p:nvGrpSpPr>
        <p:grpSpPr>
          <a:xfrm>
            <a:off x="571500" y="2476500"/>
            <a:ext cx="3905400" cy="1285800"/>
            <a:chOff x="0" y="0"/>
            <a:chExt cx="3905400" cy="1285800"/>
          </a:xfrm>
        </p:grpSpPr>
        <p:sp>
          <p:nvSpPr>
            <p:cNvPr id="205" name="Google Shape;205;p25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 txBox="1"/>
            <p:nvPr/>
          </p:nvSpPr>
          <p:spPr>
            <a:xfrm>
              <a:off x="190500" y="190500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Machine Learning Framework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Scikit-learn for train_test_split, regression algorithms (Multiple Linear, Decision Tree, Random Forest), and error metrics.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" name="Google Shape;207;p25"/>
          <p:cNvGrpSpPr/>
          <p:nvPr/>
        </p:nvGrpSpPr>
        <p:grpSpPr>
          <a:xfrm>
            <a:off x="4667250" y="2476500"/>
            <a:ext cx="3905400" cy="1047900"/>
            <a:chOff x="0" y="0"/>
            <a:chExt cx="3905400" cy="1047900"/>
          </a:xfrm>
        </p:grpSpPr>
        <p:sp>
          <p:nvSpPr>
            <p:cNvPr id="208" name="Google Shape;208;p25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10909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5"/>
            <p:cNvSpPr txBox="1"/>
            <p:nvPr/>
          </p:nvSpPr>
          <p:spPr>
            <a:xfrm>
              <a:off x="190500" y="190500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Visualization Tools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Used to map model evaluations and error metrics via generated graphs and bar charts.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6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216" name="Google Shape;216;p26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Results: Model Performance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26"/>
          <p:cNvGrpSpPr/>
          <p:nvPr/>
        </p:nvGrpSpPr>
        <p:grpSpPr>
          <a:xfrm>
            <a:off x="571500" y="1238250"/>
            <a:ext cx="8001000" cy="2857650"/>
            <a:chOff x="571500" y="1238250"/>
            <a:chExt cx="8001000" cy="2857650"/>
          </a:xfrm>
        </p:grpSpPr>
        <p:sp>
          <p:nvSpPr>
            <p:cNvPr id="219" name="Google Shape;219;p26"/>
            <p:cNvSpPr/>
            <p:nvPr/>
          </p:nvSpPr>
          <p:spPr>
            <a:xfrm>
              <a:off x="571500" y="1238250"/>
              <a:ext cx="8001000" cy="2857500"/>
            </a:xfrm>
            <a:prstGeom prst="roundRect">
              <a:avLst>
                <a:gd fmla="val 4000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571500" y="1238250"/>
              <a:ext cx="8001000" cy="476400"/>
            </a:xfrm>
            <a:prstGeom prst="roundRect">
              <a:avLst>
                <a:gd fmla="val 24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571500" y="1571625"/>
              <a:ext cx="8001000" cy="1428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2" name="Google Shape;222;p26"/>
            <p:cNvCxnSpPr/>
            <p:nvPr/>
          </p:nvCxnSpPr>
          <p:spPr>
            <a:xfrm>
              <a:off x="571500" y="17145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3" name="Google Shape;223;p26"/>
            <p:cNvGrpSpPr/>
            <p:nvPr/>
          </p:nvGrpSpPr>
          <p:grpSpPr>
            <a:xfrm>
              <a:off x="762000" y="1238250"/>
              <a:ext cx="7239000" cy="476400"/>
              <a:chOff x="762000" y="1238250"/>
              <a:chExt cx="7239000" cy="476400"/>
            </a:xfrm>
          </p:grpSpPr>
          <p:sp>
            <p:nvSpPr>
              <p:cNvPr id="224" name="Google Shape;224;p26"/>
              <p:cNvSpPr txBox="1"/>
              <p:nvPr/>
            </p:nvSpPr>
            <p:spPr>
              <a:xfrm>
                <a:off x="762000" y="1238250"/>
                <a:ext cx="2095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Model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5" name="Google Shape;225;p26"/>
              <p:cNvSpPr txBox="1"/>
              <p:nvPr/>
            </p:nvSpPr>
            <p:spPr>
              <a:xfrm>
                <a:off x="2857500" y="1238250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R²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6" name="Google Shape;226;p26"/>
              <p:cNvSpPr txBox="1"/>
              <p:nvPr/>
            </p:nvSpPr>
            <p:spPr>
              <a:xfrm>
                <a:off x="4572000" y="1238250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MAE (%)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7" name="Google Shape;227;p26"/>
              <p:cNvSpPr txBox="1"/>
              <p:nvPr/>
            </p:nvSpPr>
            <p:spPr>
              <a:xfrm>
                <a:off x="6286500" y="1238250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RMSE (%)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28" name="Google Shape;228;p26"/>
            <p:cNvGrpSpPr/>
            <p:nvPr/>
          </p:nvGrpSpPr>
          <p:grpSpPr>
            <a:xfrm>
              <a:off x="762000" y="1714500"/>
              <a:ext cx="7239000" cy="571500"/>
              <a:chOff x="762000" y="1714500"/>
              <a:chExt cx="7239000" cy="571500"/>
            </a:xfrm>
          </p:grpSpPr>
          <p:sp>
            <p:nvSpPr>
              <p:cNvPr id="229" name="Google Shape;229;p26"/>
              <p:cNvSpPr txBox="1"/>
              <p:nvPr/>
            </p:nvSpPr>
            <p:spPr>
              <a:xfrm>
                <a:off x="762000" y="171450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E7D32"/>
                    </a:solidFill>
                    <a:latin typeface="Roboto"/>
                    <a:ea typeface="Roboto"/>
                    <a:cs typeface="Roboto"/>
                    <a:sym typeface="Roboto"/>
                  </a:rPr>
                  <a:t>Decision Tree</a:t>
                </a:r>
                <a:endParaRPr b="0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0" name="Google Shape;230;p26"/>
              <p:cNvSpPr txBox="1"/>
              <p:nvPr/>
            </p:nvSpPr>
            <p:spPr>
              <a:xfrm>
                <a:off x="2857500" y="1714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0.8700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1" name="Google Shape;231;p26"/>
              <p:cNvSpPr txBox="1"/>
              <p:nvPr/>
            </p:nvSpPr>
            <p:spPr>
              <a:xfrm>
                <a:off x="4572000" y="1714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5.31%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2" name="Google Shape;232;p26"/>
              <p:cNvSpPr txBox="1"/>
              <p:nvPr/>
            </p:nvSpPr>
            <p:spPr>
              <a:xfrm>
                <a:off x="6286500" y="1714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6.84%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233" name="Google Shape;233;p26"/>
            <p:cNvCxnSpPr/>
            <p:nvPr/>
          </p:nvCxnSpPr>
          <p:spPr>
            <a:xfrm>
              <a:off x="762000" y="22860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4" name="Google Shape;234;p26"/>
            <p:cNvGrpSpPr/>
            <p:nvPr/>
          </p:nvGrpSpPr>
          <p:grpSpPr>
            <a:xfrm>
              <a:off x="762000" y="2286000"/>
              <a:ext cx="7239000" cy="571500"/>
              <a:chOff x="762000" y="2286000"/>
              <a:chExt cx="7239000" cy="571500"/>
            </a:xfrm>
          </p:grpSpPr>
          <p:sp>
            <p:nvSpPr>
              <p:cNvPr id="235" name="Google Shape;235;p26"/>
              <p:cNvSpPr txBox="1"/>
              <p:nvPr/>
            </p:nvSpPr>
            <p:spPr>
              <a:xfrm>
                <a:off x="762000" y="228600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E7D32"/>
                    </a:solidFill>
                    <a:latin typeface="Roboto"/>
                    <a:ea typeface="Roboto"/>
                    <a:cs typeface="Roboto"/>
                    <a:sym typeface="Roboto"/>
                  </a:rPr>
                  <a:t>Random Forest</a:t>
                </a:r>
                <a:endParaRPr b="0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6" name="Google Shape;236;p26"/>
              <p:cNvSpPr txBox="1"/>
              <p:nvPr/>
            </p:nvSpPr>
            <p:spPr>
              <a:xfrm>
                <a:off x="2857500" y="22860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0.9400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7" name="Google Shape;237;p26"/>
              <p:cNvSpPr txBox="1"/>
              <p:nvPr/>
            </p:nvSpPr>
            <p:spPr>
              <a:xfrm>
                <a:off x="4572000" y="22860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4.21%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8" name="Google Shape;238;p26"/>
              <p:cNvSpPr txBox="1"/>
              <p:nvPr/>
            </p:nvSpPr>
            <p:spPr>
              <a:xfrm>
                <a:off x="6286500" y="22860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4.78%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39" name="Google Shape;239;p26"/>
            <p:cNvSpPr/>
            <p:nvPr/>
          </p:nvSpPr>
          <p:spPr>
            <a:xfrm>
              <a:off x="571500" y="2857500"/>
              <a:ext cx="8001000" cy="5715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0" name="Google Shape;240;p26"/>
            <p:cNvGrpSpPr/>
            <p:nvPr/>
          </p:nvGrpSpPr>
          <p:grpSpPr>
            <a:xfrm>
              <a:off x="762000" y="2857500"/>
              <a:ext cx="7239000" cy="571500"/>
              <a:chOff x="762000" y="2857500"/>
              <a:chExt cx="7239000" cy="571500"/>
            </a:xfrm>
          </p:grpSpPr>
          <p:sp>
            <p:nvSpPr>
              <p:cNvPr id="241" name="Google Shape;241;p26"/>
              <p:cNvSpPr txBox="1"/>
              <p:nvPr/>
            </p:nvSpPr>
            <p:spPr>
              <a:xfrm>
                <a:off x="762000" y="285750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B5E20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Linear Regression</a:t>
                </a:r>
                <a:endParaRPr b="1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2" name="Google Shape;242;p26"/>
              <p:cNvSpPr txBox="1"/>
              <p:nvPr/>
            </p:nvSpPr>
            <p:spPr>
              <a:xfrm>
                <a:off x="2857500" y="2857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B5E20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0.9600</a:t>
                </a:r>
                <a:endParaRPr b="0" sz="1400">
                  <a:solidFill>
                    <a:srgbClr val="1B5E20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</p:txBody>
          </p:sp>
          <p:sp>
            <p:nvSpPr>
              <p:cNvPr id="243" name="Google Shape;243;p26"/>
              <p:cNvSpPr txBox="1"/>
              <p:nvPr/>
            </p:nvSpPr>
            <p:spPr>
              <a:xfrm>
                <a:off x="4572000" y="2857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B5E20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2.85%</a:t>
                </a:r>
                <a:endParaRPr b="0" sz="1400">
                  <a:solidFill>
                    <a:srgbClr val="1B5E20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</p:txBody>
          </p:sp>
          <p:sp>
            <p:nvSpPr>
              <p:cNvPr id="244" name="Google Shape;244;p26"/>
              <p:cNvSpPr txBox="1"/>
              <p:nvPr/>
            </p:nvSpPr>
            <p:spPr>
              <a:xfrm>
                <a:off x="6286500" y="2857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B5E20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3.96%</a:t>
                </a:r>
                <a:endParaRPr b="0" sz="1400">
                  <a:solidFill>
                    <a:srgbClr val="1B5E20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</p:txBody>
          </p:sp>
        </p:grpSp>
        <p:sp>
          <p:nvSpPr>
            <p:cNvPr id="245" name="Google Shape;245;p26"/>
            <p:cNvSpPr/>
            <p:nvPr/>
          </p:nvSpPr>
          <p:spPr>
            <a:xfrm>
              <a:off x="571500" y="3429000"/>
              <a:ext cx="8001000" cy="666900"/>
            </a:xfrm>
            <a:prstGeom prst="roundRect">
              <a:avLst>
                <a:gd fmla="val 17142" name="adj"/>
              </a:avLst>
            </a:prstGeom>
            <a:solidFill>
              <a:srgbClr val="1B5E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571500" y="3429000"/>
              <a:ext cx="8001000" cy="14280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 txBox="1"/>
            <p:nvPr/>
          </p:nvSpPr>
          <p:spPr>
            <a:xfrm>
              <a:off x="762000" y="3429000"/>
              <a:ext cx="762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8E6C9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Outcome:</a:t>
              </a: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The MLR algorithm significantly outperformed the complex ensemble methods in predictive accuracy and error reduction.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27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255" name="Google Shape;255;p27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R² Comparison for All Three Models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27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2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425" y="1145350"/>
            <a:ext cx="6505575" cy="39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8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266" name="Google Shape;266;p28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Error Metrics Comparison</a:t>
              </a:r>
              <a:endParaRPr b="0" i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28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p28" title="downloa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813" y="1086548"/>
            <a:ext cx="7572375" cy="39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29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277" name="Google Shape;277;p29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MSE Comparison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29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0" name="Google Shape;280;p29" title="download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8275" y="1039525"/>
            <a:ext cx="6467475" cy="39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Results: Predictive Accuracy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30"/>
          <p:cNvGrpSpPr/>
          <p:nvPr/>
        </p:nvGrpSpPr>
        <p:grpSpPr>
          <a:xfrm>
            <a:off x="249300" y="1286475"/>
            <a:ext cx="5385633" cy="3410388"/>
            <a:chOff x="0" y="0"/>
            <a:chExt cx="2524200" cy="2476500"/>
          </a:xfrm>
        </p:grpSpPr>
        <p:sp>
          <p:nvSpPr>
            <p:cNvPr id="288" name="Google Shape;288;p30"/>
            <p:cNvSpPr/>
            <p:nvPr/>
          </p:nvSpPr>
          <p:spPr>
            <a:xfrm>
              <a:off x="0" y="0"/>
              <a:ext cx="25242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131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cientific scatter plot showing data points clustering tightly along a diagonal line y=x, with a clean aesthetic and green accents." id="289" name="Google Shape;289;p30"/>
            <p:cNvPicPr preferRelativeResize="0"/>
            <p:nvPr/>
          </p:nvPicPr>
          <p:blipFill rotWithShape="1">
            <a:blip r:embed="rId3">
              <a:alphaModFix/>
            </a:blip>
            <a:srcRect b="2598" l="0" r="0" t="2588"/>
            <a:stretch/>
          </p:blipFill>
          <p:spPr>
            <a:xfrm>
              <a:off x="190500" y="190500"/>
              <a:ext cx="2143200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30"/>
            <p:cNvSpPr txBox="1"/>
            <p:nvPr/>
          </p:nvSpPr>
          <p:spPr>
            <a:xfrm>
              <a:off x="190500" y="1809750"/>
              <a:ext cx="2143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29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Scatter Plot Analysis:</a:t>
              </a:r>
              <a:r>
                <a:rPr b="0" lang="en" sz="1229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Densely clustered points along y=x trajectory (R²: 0.96) confirm high variance capture.</a:t>
              </a:r>
              <a:endParaRPr b="0" sz="1229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1" name="Google Shape;291;p30"/>
          <p:cNvGrpSpPr/>
          <p:nvPr/>
        </p:nvGrpSpPr>
        <p:grpSpPr>
          <a:xfrm>
            <a:off x="6048375" y="1238250"/>
            <a:ext cx="2524200" cy="2476500"/>
            <a:chOff x="0" y="0"/>
            <a:chExt cx="2524200" cy="2476500"/>
          </a:xfrm>
        </p:grpSpPr>
        <p:sp>
          <p:nvSpPr>
            <p:cNvPr id="292" name="Google Shape;292;p30"/>
            <p:cNvSpPr/>
            <p:nvPr/>
          </p:nvSpPr>
          <p:spPr>
            <a:xfrm>
              <a:off x="0" y="0"/>
              <a:ext cx="25242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0"/>
            <p:cNvSpPr txBox="1"/>
            <p:nvPr/>
          </p:nvSpPr>
          <p:spPr>
            <a:xfrm>
              <a:off x="190500" y="190500"/>
              <a:ext cx="2143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Sample System Output</a:t>
              </a:r>
              <a:endParaRPr b="1" sz="12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90500" y="523875"/>
              <a:ext cx="2143200" cy="9600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0"/>
            <p:cNvSpPr txBox="1"/>
            <p:nvPr/>
          </p:nvSpPr>
          <p:spPr>
            <a:xfrm>
              <a:off x="190500" y="666750"/>
              <a:ext cx="21432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Input Parameters:</a:t>
              </a:r>
              <a:endParaRPr b="0" sz="893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Rain: 10mm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Temp: 32°C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Prediction:</a:t>
              </a:r>
              <a:endParaRPr b="0" sz="893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Moisture: 28.3%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Advisory:</a:t>
              </a:r>
              <a:endParaRPr b="0" sz="893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Irrigate &amp; plant Red gram / Groundnut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96" name="Google Shape;296;p30" title="download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00" y="1351775"/>
            <a:ext cx="5385625" cy="32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31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304" name="Google Shape;304;p31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8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Agro-Meteorological Feature Correlation Matrix</a:t>
              </a:r>
              <a:endParaRPr b="0" sz="248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31"/>
          <p:cNvSpPr txBox="1"/>
          <p:nvPr/>
        </p:nvSpPr>
        <p:spPr>
          <a:xfrm>
            <a:off x="665575" y="1357025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7" name="Google Shape;307;p31" title="corre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575" y="1145350"/>
            <a:ext cx="7906924" cy="38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2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0" y="3905250"/>
            <a:ext cx="9144000" cy="1238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14" name="Google Shape;314;p3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Discussion &amp; Analysis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32"/>
          <p:cNvGrpSpPr/>
          <p:nvPr/>
        </p:nvGrpSpPr>
        <p:grpSpPr>
          <a:xfrm>
            <a:off x="571500" y="1238250"/>
            <a:ext cx="3905400" cy="1285800"/>
            <a:chOff x="571500" y="1238250"/>
            <a:chExt cx="3905400" cy="1285800"/>
          </a:xfrm>
        </p:grpSpPr>
        <p:sp>
          <p:nvSpPr>
            <p:cNvPr id="317" name="Google Shape;317;p32"/>
            <p:cNvSpPr/>
            <p:nvPr/>
          </p:nvSpPr>
          <p:spPr>
            <a:xfrm>
              <a:off x="571500" y="1238250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2"/>
            <p:cNvSpPr txBox="1"/>
            <p:nvPr/>
          </p:nvSpPr>
          <p:spPr>
            <a:xfrm>
              <a:off x="762000" y="1381125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Model Performance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An R² score of 0.96 proves that the MLR model is highly capable of predicting soil moisture accurately for field-deployment.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9" name="Google Shape;319;p32"/>
          <p:cNvGrpSpPr/>
          <p:nvPr/>
        </p:nvGrpSpPr>
        <p:grpSpPr>
          <a:xfrm>
            <a:off x="4667250" y="1238250"/>
            <a:ext cx="3905400" cy="1285800"/>
            <a:chOff x="4667250" y="1238250"/>
            <a:chExt cx="3905400" cy="1285800"/>
          </a:xfrm>
        </p:grpSpPr>
        <p:sp>
          <p:nvSpPr>
            <p:cNvPr id="320" name="Google Shape;320;p32"/>
            <p:cNvSpPr/>
            <p:nvPr/>
          </p:nvSpPr>
          <p:spPr>
            <a:xfrm>
              <a:off x="4667250" y="1238250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 txBox="1"/>
            <p:nvPr/>
          </p:nvSpPr>
          <p:spPr>
            <a:xfrm>
              <a:off x="4857750" y="1381125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Interpretability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Transparent recommendation engine allows farmers to verify thresholds directly, building user trust.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2" name="Google Shape;322;p32"/>
          <p:cNvGrpSpPr/>
          <p:nvPr/>
        </p:nvGrpSpPr>
        <p:grpSpPr>
          <a:xfrm>
            <a:off x="571500" y="2619375"/>
            <a:ext cx="3905400" cy="1285800"/>
            <a:chOff x="571500" y="2619375"/>
            <a:chExt cx="3905400" cy="1285800"/>
          </a:xfrm>
        </p:grpSpPr>
        <p:sp>
          <p:nvSpPr>
            <p:cNvPr id="323" name="Google Shape;323;p32"/>
            <p:cNvSpPr/>
            <p:nvPr/>
          </p:nvSpPr>
          <p:spPr>
            <a:xfrm>
              <a:off x="571500" y="2619375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 txBox="1"/>
            <p:nvPr/>
          </p:nvSpPr>
          <p:spPr>
            <a:xfrm>
              <a:off x="762000" y="2762250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Input Mode Effectiveness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"Field Observation" mode introduces minor acceptable error (±5%), overcoming literacy barriers while preserving accuracy.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5" name="Google Shape;325;p32"/>
          <p:cNvGrpSpPr/>
          <p:nvPr/>
        </p:nvGrpSpPr>
        <p:grpSpPr>
          <a:xfrm>
            <a:off x="4667250" y="2619375"/>
            <a:ext cx="3905400" cy="1285800"/>
            <a:chOff x="4667250" y="2619375"/>
            <a:chExt cx="3905400" cy="1285800"/>
          </a:xfrm>
        </p:grpSpPr>
        <p:sp>
          <p:nvSpPr>
            <p:cNvPr id="326" name="Google Shape;326;p32"/>
            <p:cNvSpPr/>
            <p:nvPr/>
          </p:nvSpPr>
          <p:spPr>
            <a:xfrm>
              <a:off x="4667250" y="2619375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2"/>
            <p:cNvSpPr txBox="1"/>
            <p:nvPr/>
          </p:nvSpPr>
          <p:spPr>
            <a:xfrm>
              <a:off x="4857750" y="2762250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System Limitations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Lacks soil pH/topography parameters, 7-day forecasting, and faces seasonal errors due to fixed day-length.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 and Future Work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33"/>
          <p:cNvGrpSpPr/>
          <p:nvPr/>
        </p:nvGrpSpPr>
        <p:grpSpPr>
          <a:xfrm>
            <a:off x="571500" y="1238250"/>
            <a:ext cx="3905400" cy="2476500"/>
            <a:chOff x="0" y="0"/>
            <a:chExt cx="3905400" cy="2476500"/>
          </a:xfrm>
        </p:grpSpPr>
        <p:sp>
          <p:nvSpPr>
            <p:cNvPr id="336" name="Google Shape;336;p33"/>
            <p:cNvSpPr/>
            <p:nvPr/>
          </p:nvSpPr>
          <p:spPr>
            <a:xfrm>
              <a:off x="0" y="0"/>
              <a:ext cx="39054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3"/>
            <p:cNvSpPr txBox="1"/>
            <p:nvPr/>
          </p:nvSpPr>
          <p:spPr>
            <a:xfrm>
              <a:off x="190500" y="190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</a:t>
              </a:r>
              <a:endParaRPr b="1" sz="16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8" name="Google Shape;338;p33"/>
            <p:cNvSpPr txBox="1"/>
            <p:nvPr/>
          </p:nvSpPr>
          <p:spPr>
            <a:xfrm>
              <a:off x="190500" y="571500"/>
              <a:ext cx="3524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High Accuracy System</a:t>
              </a:r>
              <a:endParaRPr b="1" sz="12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Successfully developed a low-cost Python system with </a:t>
              </a: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R² = 0.96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using  Multiple Linear Regression.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Inclusive Accessibility</a:t>
              </a:r>
              <a:endParaRPr b="1" sz="12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Dual-input modes bridge the gap for both technical and non-technical farmers.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9" name="Google Shape;339;p33"/>
          <p:cNvGrpSpPr/>
          <p:nvPr/>
        </p:nvGrpSpPr>
        <p:grpSpPr>
          <a:xfrm>
            <a:off x="4667250" y="1238250"/>
            <a:ext cx="3905400" cy="2476500"/>
            <a:chOff x="0" y="0"/>
            <a:chExt cx="3905400" cy="2476500"/>
          </a:xfrm>
        </p:grpSpPr>
        <p:sp>
          <p:nvSpPr>
            <p:cNvPr id="340" name="Google Shape;340;p33"/>
            <p:cNvSpPr/>
            <p:nvPr/>
          </p:nvSpPr>
          <p:spPr>
            <a:xfrm>
              <a:off x="0" y="0"/>
              <a:ext cx="39054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 txBox="1"/>
            <p:nvPr/>
          </p:nvSpPr>
          <p:spPr>
            <a:xfrm>
              <a:off x="190500" y="190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Work</a:t>
              </a:r>
              <a:endParaRPr b="1" sz="16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2" name="Google Shape;342;p33"/>
            <p:cNvSpPr txBox="1"/>
            <p:nvPr/>
          </p:nvSpPr>
          <p:spPr>
            <a:xfrm>
              <a:off x="190500" y="571500"/>
              <a:ext cx="3524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Expansion: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Database growth to 30+ crops across Karnataka.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Integration: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IMD Weather APIs for 7-day forecasting and IoT telemetry.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Deployment: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Kannada Android interface and LSTM deep learning research.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8E9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 txBox="1"/>
          <p:nvPr/>
        </p:nvSpPr>
        <p:spPr>
          <a:xfrm>
            <a:off x="571500" y="28575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3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References &amp; Acknowledgements</a:t>
            </a:r>
            <a:endParaRPr b="0" i="0" sz="323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571500" y="1000125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34"/>
          <p:cNvGrpSpPr/>
          <p:nvPr/>
        </p:nvGrpSpPr>
        <p:grpSpPr>
          <a:xfrm>
            <a:off x="476250" y="1190625"/>
            <a:ext cx="4000500" cy="2667000"/>
            <a:chOff x="476250" y="1190625"/>
            <a:chExt cx="4000500" cy="2667000"/>
          </a:xfrm>
        </p:grpSpPr>
        <p:sp>
          <p:nvSpPr>
            <p:cNvPr id="350" name="Google Shape;350;p34"/>
            <p:cNvSpPr/>
            <p:nvPr/>
          </p:nvSpPr>
          <p:spPr>
            <a:xfrm>
              <a:off x="476250" y="1190625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4"/>
            <p:cNvSpPr txBox="1"/>
            <p:nvPr/>
          </p:nvSpPr>
          <p:spPr>
            <a:xfrm>
              <a:off x="666750" y="1381125"/>
              <a:ext cx="36195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References</a:t>
              </a:r>
              <a:endParaRPr b="1" i="0" sz="18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2" name="Google Shape;352;p34"/>
            <p:cNvSpPr txBox="1"/>
            <p:nvPr/>
          </p:nvSpPr>
          <p:spPr>
            <a:xfrm>
              <a:off x="666750" y="1762125"/>
              <a:ext cx="36195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Breiman, L. (2001). Random Forests. </a:t>
              </a:r>
              <a:r>
                <a:rPr b="0" i="1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, 45(1), 5–32.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IMD. (2024). Annual Rainfall Data Reports. India Meteorological Department.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ICAR. (2024). Handbook of Agriculture (7th Edition).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Pedregosa, F., et al. (2021). Scikit-learn: Machine Learning in Python.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3" name="Google Shape;353;p34"/>
          <p:cNvGrpSpPr/>
          <p:nvPr/>
        </p:nvGrpSpPr>
        <p:grpSpPr>
          <a:xfrm>
            <a:off x="4667250" y="1190625"/>
            <a:ext cx="4000500" cy="2667000"/>
            <a:chOff x="4667250" y="1190625"/>
            <a:chExt cx="4000500" cy="2667000"/>
          </a:xfrm>
        </p:grpSpPr>
        <p:sp>
          <p:nvSpPr>
            <p:cNvPr id="354" name="Google Shape;354;p34"/>
            <p:cNvSpPr/>
            <p:nvPr/>
          </p:nvSpPr>
          <p:spPr>
            <a:xfrm>
              <a:off x="4667250" y="1190625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4"/>
            <p:cNvSpPr txBox="1"/>
            <p:nvPr/>
          </p:nvSpPr>
          <p:spPr>
            <a:xfrm>
              <a:off x="4857750" y="1381125"/>
              <a:ext cx="36195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Acknowledgements</a:t>
              </a:r>
              <a:endParaRPr b="1" i="0" sz="18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6" name="Google Shape;356;p34"/>
            <p:cNvSpPr txBox="1"/>
            <p:nvPr/>
          </p:nvSpPr>
          <p:spPr>
            <a:xfrm>
              <a:off x="4857750" y="1762125"/>
              <a:ext cx="36195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Sincere gratitude to the Course Teacher of EAI-421, University of Agricultural Sciences, Bengaluru (UAS-B) for conceptual framework and mentorship.</a:t>
              </a:r>
              <a:endParaRPr b="0" i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Special thanks to the College of Agriculture, UAS-B for providing the necessary resources and environment for this research.</a:t>
              </a:r>
              <a:endParaRPr b="0" i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